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1A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t-mark-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502920"/>
            <a:ext cx="555855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80160" y="457200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0" i="1">
                <a:solidFill>
                  <a:srgbClr val="F5F1EA"/>
                </a:solidFill>
                <a:latin typeface="Instrument Serif"/>
                <a:cs typeface="Instrument Serif"/>
              </a:rPr>
              <a:t>ZaraTraining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9509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260">
                <a:solidFill>
                  <a:srgbClr val="D4B582"/>
                </a:solidFill>
                <a:latin typeface="JetBrains Mono"/>
                <a:cs typeface="JetBrains Mono"/>
              </a:rPr>
              <a:t>ZARA · INDITEX · MAĞAZA ZEKÂSI KATMANI</a:t>
            </a:r>
          </a:p>
        </p:txBody>
      </p:sp>
      <p:pic>
        <p:nvPicPr>
          <p:cNvPr id="6" name="Picture 5" descr="network_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79" y="4728754"/>
            <a:ext cx="4572000" cy="13062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2148840"/>
            <a:ext cx="104241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0" b="0" i="1">
                <a:solidFill>
                  <a:srgbClr val="D4B582"/>
                </a:solidFill>
                <a:latin typeface="Bodoni Moda"/>
                <a:cs typeface="Bodoni Moda"/>
              </a:rPr>
              <a:t>Uzman gidince, </a:t>
            </a:r>
            <a:r>
              <a:rPr sz="5800" b="0" i="0">
                <a:solidFill>
                  <a:srgbClr val="F5F1EA"/>
                </a:solidFill>
                <a:latin typeface="Bodoni Moda"/>
                <a:cs typeface="Bodoni Moda"/>
              </a:rPr>
              <a:t>mağaza unutur.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4343400"/>
            <a:ext cx="8412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B8B4AE"/>
                </a:solidFill>
                <a:latin typeface="Inter"/>
                <a:cs typeface="Inter"/>
              </a:rPr>
              <a:t>Mağazanın örtük bilgisini hatırlayan ve her vardiyada gerçek sonuçları en iyiye taşımayı öğrenen bir zekâ katmanı — Zara Brain + Live Performance Twin.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B8935A"/>
                </a:solidFill>
                <a:latin typeface="Instrument Serif"/>
                <a:cs typeface="Instrument Serif"/>
              </a:rPr>
              <a:t>ZaraTraining</a:t>
            </a:r>
            <a:r>
              <a:rPr sz="850" b="0" i="0" spc="160">
                <a:solidFill>
                  <a:srgbClr val="B8B4AE"/>
                </a:solidFill>
                <a:latin typeface="JetBrains Mono"/>
                <a:cs typeface="JetBrains Mono"/>
              </a:rPr>
              <a:t>   ·   ZARA Bornova 3643   ·   MAĞAZA ZEKÂSI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44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B8B4AE"/>
                </a:solidFill>
                <a:latin typeface="JetBrains Mono"/>
                <a:cs typeface="JetBrains Mono"/>
              </a:rP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5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260">
                <a:solidFill>
                  <a:srgbClr val="B8935A"/>
                </a:solidFill>
                <a:latin typeface="JetBrains Mono"/>
                <a:cs typeface="JetBrains Mono"/>
              </a:rPr>
              <a:t>KÖR NOKTA · İKİ YAPISAL BOŞLUK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789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 i="1">
                <a:solidFill>
                  <a:srgbClr val="B8935A"/>
                </a:solidFill>
                <a:latin typeface="Bodoni Moda"/>
                <a:cs typeface="Bodoni Moda"/>
              </a:rPr>
              <a:t>İki şey </a:t>
            </a:r>
            <a:r>
              <a:rPr sz="3800" b="0" i="0">
                <a:solidFill>
                  <a:srgbClr val="1A1614"/>
                </a:solidFill>
                <a:latin typeface="Bodoni Moda"/>
                <a:cs typeface="Bodoni Moda"/>
              </a:rPr>
              <a:t>sistemin dışında kalıyor.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606040"/>
            <a:ext cx="52578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6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2606040"/>
            <a:ext cx="54864" cy="3108960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990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260">
                <a:solidFill>
                  <a:srgbClr val="B8935A"/>
                </a:solidFill>
                <a:latin typeface="JetBrains Mono"/>
                <a:cs typeface="JetBrains Mono"/>
              </a:rPr>
              <a:t>01 · ÖRTÜK BİLGİ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383280"/>
            <a:ext cx="4526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A1614"/>
                </a:solidFill>
                <a:latin typeface="Bodoni Moda"/>
                <a:cs typeface="Bodoni Moda"/>
              </a:rPr>
              <a:t>Uzman gidince bilgi de gider.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4389120"/>
            <a:ext cx="4526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A322E"/>
                </a:solidFill>
                <a:latin typeface="Inter"/>
                <a:cs typeface="Inter"/>
              </a:rPr>
              <a:t>Selin'in “Cuma akşamı kabin nasıl yönetilir” sezgisi hiçbir yerde yazılı değil. Devir, izin, yeni işe alımla bu hafıza sessizce silinir.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35624" y="2606040"/>
            <a:ext cx="52578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6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35624" y="2606040"/>
            <a:ext cx="54864" cy="3108960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1384" y="2990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260">
                <a:solidFill>
                  <a:srgbClr val="B8935A"/>
                </a:solidFill>
                <a:latin typeface="JetBrains Mono"/>
                <a:cs typeface="JetBrains Mono"/>
              </a:rPr>
              <a:t>02 · STATİK OPTİMİZASYON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1384" y="3383280"/>
            <a:ext cx="4526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A1614"/>
                </a:solidFill>
                <a:latin typeface="Bodoni Moda"/>
                <a:cs typeface="Bodoni Moda"/>
              </a:rPr>
              <a:t>Kâğıt üstünde optimal, sahada kör.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1384" y="4389120"/>
            <a:ext cx="4526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A322E"/>
                </a:solidFill>
                <a:latin typeface="Inter"/>
                <a:cs typeface="Inter"/>
              </a:rPr>
              <a:t>Mevcut vardiya çözücü kuralları sağlar ama gerçek sonucu (Buenas Dias KPI'ları) görmez. Mağazanın asıl performansına göre öğrenmez.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B8935A"/>
                </a:solidFill>
                <a:latin typeface="Instrument Serif"/>
                <a:cs typeface="Instrument Serif"/>
              </a:rPr>
              <a:t>ZaraTraining</a:t>
            </a:r>
            <a:r>
              <a:rPr sz="850" b="0" i="0" spc="160">
                <a:solidFill>
                  <a:srgbClr val="8A857F"/>
                </a:solidFill>
                <a:latin typeface="JetBrains Mono"/>
                <a:cs typeface="JetBrains Mono"/>
              </a:rPr>
              <a:t>   ·   ZARA Bornova 3643   ·   MAĞAZA ZEKÂSI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80015" y="6400800"/>
            <a:ext cx="1444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8A857F"/>
                </a:solidFill>
                <a:latin typeface="JetBrains Mono"/>
                <a:cs typeface="JetBrains Mono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5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260">
                <a:solidFill>
                  <a:srgbClr val="B8935A"/>
                </a:solidFill>
                <a:latin typeface="JetBrains Mono"/>
                <a:cs typeface="JetBrains Mono"/>
              </a:rPr>
              <a:t>ÇÖZÜM · TEK ÜRÜN, İKİ MOTOR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789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 i="1">
                <a:solidFill>
                  <a:srgbClr val="B8935A"/>
                </a:solidFill>
                <a:latin typeface="Bodoni Moda"/>
                <a:cs typeface="Bodoni Moda"/>
              </a:rPr>
              <a:t>Bir hafıza, </a:t>
            </a:r>
            <a:r>
              <a:rPr sz="3800" b="0" i="0">
                <a:solidFill>
                  <a:srgbClr val="1A1614"/>
                </a:solidFill>
                <a:latin typeface="Bodoni Moda"/>
                <a:cs typeface="Bodoni Moda"/>
              </a:rPr>
              <a:t>bir de optimize edici.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468880"/>
            <a:ext cx="5257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6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779776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 i="1">
                <a:solidFill>
                  <a:srgbClr val="D4B582"/>
                </a:solidFill>
                <a:latin typeface="Bodoni Moda"/>
                <a:cs typeface="Bodoni Moda"/>
              </a:rPr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18488" y="28895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260">
                <a:solidFill>
                  <a:srgbClr val="8A857F"/>
                </a:solidFill>
                <a:latin typeface="JetBrains Mono"/>
                <a:cs typeface="JetBrains Mono"/>
              </a:rPr>
              <a:t>KURUMSAL HAFIZA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364992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A1614"/>
                </a:solidFill>
                <a:latin typeface="Bodoni Moda"/>
                <a:cs typeface="Bodoni Moda"/>
              </a:rPr>
              <a:t>Zara Brain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886200"/>
            <a:ext cx="4526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322E"/>
                </a:solidFill>
                <a:latin typeface="Inter"/>
                <a:cs typeface="Inter"/>
              </a:rPr>
              <a:t>Örtük bilgiyi bir bilgi grafiğinde toplar; Graph RAG ile “kim, nerede, neden iyi” sorularına gerekçeli yanıt verir.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35624" y="2468880"/>
            <a:ext cx="5257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6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1384" y="2779776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 i="1">
                <a:solidFill>
                  <a:srgbClr val="D4B582"/>
                </a:solidFill>
                <a:latin typeface="Bodoni Moda"/>
                <a:cs typeface="Bodoni Moda"/>
              </a:rPr>
              <a:t>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87183" y="28895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260">
                <a:solidFill>
                  <a:srgbClr val="8A857F"/>
                </a:solidFill>
                <a:latin typeface="JetBrains Mono"/>
                <a:cs typeface="JetBrains Mono"/>
              </a:rPr>
              <a:t>ÖĞRENEN OPTİMİZE EDİCİ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1384" y="3364992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A1614"/>
                </a:solidFill>
                <a:latin typeface="Bodoni Moda"/>
                <a:cs typeface="Bodoni Moda"/>
              </a:rPr>
              <a:t>Live Performance Twin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1384" y="3886200"/>
            <a:ext cx="4526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322E"/>
                </a:solidFill>
                <a:latin typeface="Inter"/>
                <a:cs typeface="Inter"/>
              </a:rPr>
              <a:t>Mevcut CP-SAT çözücüyü, her mağazanın gerçek KPI'larını en iyiye taşıyacak şekilde öğrenen bir hedefle evrimleştirir.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02920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A322E"/>
                </a:solidFill>
                <a:latin typeface="Inter"/>
                <a:cs typeface="Inter"/>
              </a:rPr>
              <a:t>İki motor, insanın onayında kapanan tek bir döngüde buluşur:  </a:t>
            </a:r>
            <a:r>
              <a:rPr sz="1700" b="0" i="1">
                <a:solidFill>
                  <a:srgbClr val="B8935A"/>
                </a:solidFill>
                <a:latin typeface="Instrument Serif"/>
                <a:cs typeface="Instrument Serif"/>
              </a:rPr>
              <a:t>Planla · Uygula · Ölç · Geliş.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B8935A"/>
                </a:solidFill>
                <a:latin typeface="Instrument Serif"/>
                <a:cs typeface="Instrument Serif"/>
              </a:rPr>
              <a:t>ZaraTraining</a:t>
            </a:r>
            <a:r>
              <a:rPr sz="850" b="0" i="0" spc="160">
                <a:solidFill>
                  <a:srgbClr val="8A857F"/>
                </a:solidFill>
                <a:latin typeface="JetBrains Mono"/>
                <a:cs typeface="JetBrains Mono"/>
              </a:rPr>
              <a:t>   ·   ZARA Bornova 3643   ·   MAĞAZA ZEKÂSI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80015" y="6400800"/>
            <a:ext cx="1444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8A857F"/>
                </a:solidFill>
                <a:latin typeface="JetBrains Mono"/>
                <a:cs typeface="JetBrains Mono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5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260">
                <a:solidFill>
                  <a:srgbClr val="B8935A"/>
                </a:solidFill>
                <a:latin typeface="JetBrains Mono"/>
                <a:cs typeface="JetBrains Mono"/>
              </a:rPr>
              <a:t>NEDEN KURALLAR YETMEZ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583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1">
                <a:solidFill>
                  <a:srgbClr val="B8935A"/>
                </a:solidFill>
                <a:latin typeface="Bodoni Moda"/>
                <a:cs typeface="Bodoni Moda"/>
              </a:rPr>
              <a:t>Kurallar </a:t>
            </a:r>
            <a:r>
              <a:rPr sz="3600" b="0" i="0">
                <a:solidFill>
                  <a:srgbClr val="1A1614"/>
                </a:solidFill>
                <a:latin typeface="Bodoni Moda"/>
                <a:cs typeface="Bodoni Moda"/>
              </a:rPr>
              <a:t>bunu yapamaz.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505456"/>
            <a:ext cx="41148" cy="1051560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468880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614"/>
                </a:solidFill>
                <a:latin typeface="Bodoni Moda"/>
                <a:cs typeface="Bodoni Moda"/>
              </a:rPr>
              <a:t>Graph RAG · gerekçeli hafıza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926080"/>
            <a:ext cx="5852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322E"/>
                </a:solidFill>
                <a:latin typeface="Inter"/>
                <a:cs typeface="Inter"/>
              </a:rPr>
              <a:t>Örtük bilgi ilişkiseldir: kişi–bölge–bağlam. Bilgi grafiği üstünde getirim, “neden” sorusuna kanıtla yanıt verir; düz arama veremez.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922776"/>
            <a:ext cx="41148" cy="1051560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3886200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614"/>
                </a:solidFill>
                <a:latin typeface="Bodoni Moda"/>
                <a:cs typeface="Bodoni Moda"/>
              </a:rPr>
              <a:t>Karar-odaklı öğrenme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343400"/>
            <a:ext cx="5852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322E"/>
                </a:solidFill>
                <a:latin typeface="Inter"/>
                <a:cs typeface="Inter"/>
              </a:rPr>
              <a:t>Derin RL değil. Çözücünün hedef ağırlıklarını, gerçekleşen sonuçlardan offline/bandit yaklaşımıyla öğreniriz — güvenli ve denetlenebilir.</a:t>
            </a:r>
          </a:p>
        </p:txBody>
      </p:sp>
      <p:pic>
        <p:nvPicPr>
          <p:cNvPr id="11" name="Picture 10" descr="kgraph_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194560"/>
            <a:ext cx="4846320" cy="220935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B8935A"/>
                </a:solidFill>
                <a:latin typeface="Instrument Serif"/>
                <a:cs typeface="Instrument Serif"/>
              </a:rPr>
              <a:t>ZaraTraining</a:t>
            </a:r>
            <a:r>
              <a:rPr sz="850" b="0" i="0" spc="160">
                <a:solidFill>
                  <a:srgbClr val="8A857F"/>
                </a:solidFill>
                <a:latin typeface="JetBrains Mono"/>
                <a:cs typeface="JetBrains Mono"/>
              </a:rPr>
              <a:t>   ·   ZARA Bornova 3643   ·   MAĞAZA ZEKÂSI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80015" y="6400800"/>
            <a:ext cx="1444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8A857F"/>
                </a:solidFill>
                <a:latin typeface="JetBrains Mono"/>
                <a:cs typeface="JetBrains Mono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5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260">
                <a:solidFill>
                  <a:srgbClr val="B8935A"/>
                </a:solidFill>
                <a:latin typeface="JetBrains Mono"/>
                <a:cs typeface="JetBrains Mono"/>
              </a:rPr>
              <a:t>ÜRÜN · SABAH BRİFİNGİ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7665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1">
                <a:solidFill>
                  <a:srgbClr val="B8935A"/>
                </a:solidFill>
                <a:latin typeface="Bodoni Moda"/>
                <a:cs typeface="Bodoni Moda"/>
              </a:rPr>
              <a:t>Her sabah, </a:t>
            </a:r>
            <a:r>
              <a:rPr sz="3400" b="0" i="0">
                <a:solidFill>
                  <a:srgbClr val="1A1614"/>
                </a:solidFill>
                <a:latin typeface="Bodoni Moda"/>
                <a:cs typeface="Bodoni Moda"/>
              </a:rPr>
              <a:t>hazır bir mağaza.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286000"/>
            <a:ext cx="4572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A322E"/>
                </a:solidFill>
                <a:latin typeface="Inter"/>
                <a:cs typeface="Inter"/>
              </a:rPr>
              <a:t>Buenas Dias brifingi; günün tahmini yükünü, riskleri ve önerilen vardiyayı tek ekranda toplar. Yönetici 42 dakika planlama yerine karar verir.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79476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i="0">
                <a:solidFill>
                  <a:srgbClr val="B8935A"/>
                </a:solidFill>
                <a:latin typeface="Bodoni Moda"/>
                <a:cs typeface="Bodoni Moda"/>
              </a:rPr>
              <a:t>−42</a:t>
            </a:r>
            <a:r>
              <a:rPr sz="1300" b="0" i="0" spc="100">
                <a:solidFill>
                  <a:srgbClr val="8A857F"/>
                </a:solidFill>
                <a:latin typeface="JetBrains Mono"/>
                <a:cs typeface="JetBrains Mono"/>
              </a:rPr>
              <a:t> dk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50" b="0" i="0">
                <a:solidFill>
                  <a:srgbClr val="2D2420"/>
                </a:solidFill>
                <a:latin typeface="Inter"/>
                <a:cs typeface="Inter"/>
              </a:rPr>
              <a:t>vardiya planlamada günlük tasarruf</a:t>
            </a:r>
          </a:p>
        </p:txBody>
      </p:sp>
      <p:pic>
        <p:nvPicPr>
          <p:cNvPr id="7" name="Picture 6" descr="hotspot_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5029200"/>
            <a:ext cx="3899001" cy="11887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806440" y="2194560"/>
            <a:ext cx="585216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6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zt-buenasdi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3538" y="2331720"/>
            <a:ext cx="5337962" cy="3794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B8935A"/>
                </a:solidFill>
                <a:latin typeface="Instrument Serif"/>
                <a:cs typeface="Instrument Serif"/>
              </a:rPr>
              <a:t>ZaraTraining</a:t>
            </a:r>
            <a:r>
              <a:rPr sz="850" b="0" i="0" spc="160">
                <a:solidFill>
                  <a:srgbClr val="8A857F"/>
                </a:solidFill>
                <a:latin typeface="JetBrains Mono"/>
                <a:cs typeface="JetBrains Mono"/>
              </a:rPr>
              <a:t>   ·   ZARA Bornova 3643   ·   MAĞAZA ZEKÂSI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400800"/>
            <a:ext cx="1444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8A857F"/>
                </a:solidFill>
                <a:latin typeface="JetBrains Mono"/>
                <a:cs typeface="JetBrains Mono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5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260">
                <a:solidFill>
                  <a:srgbClr val="B8935A"/>
                </a:solidFill>
                <a:latin typeface="JetBrains Mono"/>
                <a:cs typeface="JetBrains Mono"/>
              </a:rPr>
              <a:t>ÜRÜN · BEYNE 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7498079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1">
                <a:solidFill>
                  <a:srgbClr val="B8935A"/>
                </a:solidFill>
                <a:latin typeface="Bodoni Moda"/>
                <a:cs typeface="Bodoni Moda"/>
              </a:rPr>
              <a:t>Sor, </a:t>
            </a:r>
            <a:r>
              <a:rPr sz="3400" b="0" i="0">
                <a:solidFill>
                  <a:srgbClr val="1A1614"/>
                </a:solidFill>
                <a:latin typeface="Bodoni Moda"/>
                <a:cs typeface="Bodoni Moda"/>
              </a:rPr>
              <a:t>gerekçesiyle yanıtlasın.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331720"/>
            <a:ext cx="5486400" cy="1051560"/>
          </a:xfrm>
          <a:prstGeom prst="rect">
            <a:avLst/>
          </a:prstGeom>
          <a:solidFill>
            <a:srgbClr val="1A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2569463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260">
                <a:solidFill>
                  <a:srgbClr val="D4B582"/>
                </a:solidFill>
                <a:latin typeface="JetBrains Mono"/>
                <a:cs typeface="JetBrains Mono"/>
              </a:rPr>
              <a:t>SORU · DOĞAL DİL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834639"/>
            <a:ext cx="486460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F5F1EA"/>
                </a:solidFill>
                <a:latin typeface="Bodoni Moda"/>
                <a:cs typeface="Bodoni Moda"/>
              </a:rPr>
              <a:t>“Yoğun trafikte kabinde kim en iyi çalışır?”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6576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200">
                <a:solidFill>
                  <a:srgbClr val="B8935A"/>
                </a:solidFill>
                <a:latin typeface="JetBrains Mono"/>
                <a:cs typeface="JetBrains Mono"/>
              </a:rPr>
              <a:t>EN İYİ 3 · ÖĞRENİLEN SKOR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4114800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4114800"/>
            <a:ext cx="5157216" cy="457200"/>
          </a:xfrm>
          <a:prstGeom prst="rect">
            <a:avLst/>
          </a:prstGeom>
          <a:solidFill>
            <a:srgbClr val="EF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8795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614"/>
                </a:solidFill>
                <a:latin typeface="Bodoni Moda"/>
                <a:cs typeface="Bodoni Moda"/>
              </a:rPr>
              <a:t>Selin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4608" y="4187952"/>
            <a:ext cx="914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B6F47"/>
                </a:solidFill>
                <a:latin typeface="JetBrains Mono"/>
                <a:cs typeface="JetBrains Mono"/>
              </a:rPr>
              <a:t>0.94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681728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4681728"/>
            <a:ext cx="4882896" cy="457200"/>
          </a:xfrm>
          <a:prstGeom prst="rect">
            <a:avLst/>
          </a:prstGeom>
          <a:solidFill>
            <a:srgbClr val="EF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754880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614"/>
                </a:solidFill>
                <a:latin typeface="Bodoni Moda"/>
                <a:cs typeface="Bodoni Moda"/>
              </a:rPr>
              <a:t>Ayşe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4608" y="4754880"/>
            <a:ext cx="914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B6F47"/>
                </a:solidFill>
                <a:latin typeface="JetBrains Mono"/>
                <a:cs typeface="JetBrains Mono"/>
              </a:rPr>
              <a:t>0.89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5248656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5248656"/>
            <a:ext cx="4443984" cy="457200"/>
          </a:xfrm>
          <a:prstGeom prst="rect">
            <a:avLst/>
          </a:prstGeom>
          <a:solidFill>
            <a:srgbClr val="EF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321808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614"/>
                </a:solidFill>
                <a:latin typeface="Bodoni Moda"/>
                <a:cs typeface="Bodoni Moda"/>
              </a:rPr>
              <a:t>Ece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4608" y="5321808"/>
            <a:ext cx="914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B6F47"/>
                </a:solidFill>
                <a:latin typeface="JetBrains Mono"/>
                <a:cs typeface="JetBrains Mono"/>
              </a:rPr>
              <a:t>0.81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8521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8A857F"/>
                </a:solidFill>
                <a:latin typeface="JetBrains Mono"/>
                <a:cs typeface="JetBrains Mono"/>
              </a:rPr>
              <a:t>%91 GÜVEN · n=11 VARDİYA · KANIT: 3 DÜĞÜM</a:t>
            </a:r>
          </a:p>
        </p:txBody>
      </p:sp>
      <p:pic>
        <p:nvPicPr>
          <p:cNvPr id="22" name="Picture 21" descr="chemistry_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331720"/>
            <a:ext cx="5349240" cy="175961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00800" y="4617720"/>
            <a:ext cx="5257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A322E"/>
                </a:solidFill>
                <a:latin typeface="Inter"/>
                <a:cs typeface="Inter"/>
              </a:rPr>
              <a:t>Yanıt yalnız bireyi değil eşleşmeyi de bilir: Selin+Ayşe gibi öğrenilen sinerjiler, kimin kiminle parladığını gösterir.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B8935A"/>
                </a:solidFill>
                <a:latin typeface="Instrument Serif"/>
                <a:cs typeface="Instrument Serif"/>
              </a:rPr>
              <a:t>ZaraTraining</a:t>
            </a:r>
            <a:r>
              <a:rPr sz="850" b="0" i="0" spc="160">
                <a:solidFill>
                  <a:srgbClr val="8A857F"/>
                </a:solidFill>
                <a:latin typeface="JetBrains Mono"/>
                <a:cs typeface="JetBrains Mono"/>
              </a:rPr>
              <a:t>   ·   ZARA Bornova 3643   ·   MAĞAZA ZEKÂSI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80015" y="6400800"/>
            <a:ext cx="1444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8A857F"/>
                </a:solidFill>
                <a:latin typeface="JetBrains Mono"/>
                <a:cs typeface="JetBrains Mono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5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260">
                <a:solidFill>
                  <a:srgbClr val="B8935A"/>
                </a:solidFill>
                <a:latin typeface="JetBrains Mono"/>
                <a:cs typeface="JetBrains Mono"/>
              </a:rPr>
              <a:t>ÜRÜN · PERFORMANS İKİZİ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76809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1">
                <a:solidFill>
                  <a:srgbClr val="B8935A"/>
                </a:solidFill>
                <a:latin typeface="Bodoni Moda"/>
                <a:cs typeface="Bodoni Moda"/>
              </a:rPr>
              <a:t>Kâğıttaki optimumdan </a:t>
            </a:r>
            <a:r>
              <a:rPr sz="3400" b="0" i="0">
                <a:solidFill>
                  <a:srgbClr val="1A1614"/>
                </a:solidFill>
                <a:latin typeface="Bodoni Moda"/>
                <a:cs typeface="Bodoni Moda"/>
              </a:rPr>
              <a:t>mağazadaki en iyiye.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286000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8A857F"/>
                </a:solidFill>
                <a:latin typeface="Bodoni Moda"/>
                <a:cs typeface="Bodoni Moda"/>
              </a:rPr>
              <a:t>73</a:t>
            </a:r>
            <a:r>
              <a:rPr sz="1400" b="0" i="0" spc="100">
                <a:solidFill>
                  <a:srgbClr val="8A857F"/>
                </a:solidFill>
                <a:latin typeface="JetBrains Mono"/>
                <a:cs typeface="JetBrains Mono"/>
              </a:rPr>
              <a:t>%</a:t>
            </a:r>
            <a:r>
              <a:rPr sz="2600" b="0" i="0">
                <a:solidFill>
                  <a:srgbClr val="B8935A"/>
                </a:solidFill>
                <a:latin typeface="Bodoni Moda"/>
                <a:cs typeface="Bodoni Moda"/>
              </a:rPr>
              <a:t>   →   </a:t>
            </a:r>
            <a:r>
              <a:rPr sz="4000" b="0" i="0">
                <a:solidFill>
                  <a:srgbClr val="B8935A"/>
                </a:solidFill>
                <a:latin typeface="Bodoni Moda"/>
                <a:cs typeface="Bodoni Moda"/>
              </a:rPr>
              <a:t>92</a:t>
            </a:r>
            <a:r>
              <a:rPr sz="1400" b="0" i="0" spc="100">
                <a:solidFill>
                  <a:srgbClr val="B8935A"/>
                </a:solidFill>
                <a:latin typeface="JetBrains Mono"/>
                <a:cs typeface="JetBrains Mono"/>
              </a:rPr>
              <a:t>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3017520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A322E"/>
                </a:solidFill>
                <a:latin typeface="Inter"/>
                <a:cs typeface="Inter"/>
              </a:rPr>
              <a:t>Aynı kısıtlar, aynı ekip — fark, hedefin artık gerçekleşen sonuçtan öğrenilmesinde.</a:t>
            </a:r>
          </a:p>
        </p:txBody>
      </p:sp>
      <p:pic>
        <p:nvPicPr>
          <p:cNvPr id="7" name="Picture 6" descr="weights_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703320"/>
            <a:ext cx="4864608" cy="2606040"/>
          </a:xfrm>
          <a:prstGeom prst="rect">
            <a:avLst/>
          </a:prstGeom>
        </p:spPr>
      </p:pic>
      <p:pic>
        <p:nvPicPr>
          <p:cNvPr id="8" name="Picture 7" descr="predactual_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331720"/>
            <a:ext cx="5349240" cy="28656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5440680"/>
            <a:ext cx="5257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322E"/>
                </a:solidFill>
                <a:latin typeface="Inter"/>
                <a:cs typeface="Inter"/>
              </a:rPr>
              <a:t>Twin'in tahminleri haftalar boyu gerçekleşenle örtüşüyor (MAE 1.8) — güven, kanıtla kurulur.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B8935A"/>
                </a:solidFill>
                <a:latin typeface="Instrument Serif"/>
                <a:cs typeface="Instrument Serif"/>
              </a:rPr>
              <a:t>ZaraTraining</a:t>
            </a:r>
            <a:r>
              <a:rPr sz="850" b="0" i="0" spc="160">
                <a:solidFill>
                  <a:srgbClr val="8A857F"/>
                </a:solidFill>
                <a:latin typeface="JetBrains Mono"/>
                <a:cs typeface="JetBrains Mono"/>
              </a:rPr>
              <a:t>   ·   ZARA Bornova 3643   ·   MAĞAZA ZEKÂSI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400800"/>
            <a:ext cx="1444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8A857F"/>
                </a:solidFill>
                <a:latin typeface="JetBrains Mono"/>
                <a:cs typeface="JetBrains Mono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5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260">
                <a:solidFill>
                  <a:srgbClr val="B8935A"/>
                </a:solidFill>
                <a:latin typeface="JetBrains Mono"/>
                <a:cs typeface="JetBrains Mono"/>
              </a:rPr>
              <a:t>USTA YOLU · BÜYÜME KATMANI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7498079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1">
                <a:solidFill>
                  <a:srgbClr val="B8935A"/>
                </a:solidFill>
                <a:latin typeface="Bodoni Moda"/>
                <a:cs typeface="Bodoni Moda"/>
              </a:rPr>
              <a:t>Optimize etmek değil, </a:t>
            </a:r>
            <a:r>
              <a:rPr sz="3400" b="0" i="0">
                <a:solidFill>
                  <a:srgbClr val="1A1614"/>
                </a:solidFill>
                <a:latin typeface="Bodoni Moda"/>
                <a:cs typeface="Bodoni Moda"/>
              </a:rPr>
              <a:t>insanı büyütmek.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240280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322E"/>
                </a:solidFill>
                <a:latin typeface="Inter"/>
                <a:cs typeface="Inter"/>
              </a:rPr>
              <a:t>Usta Yolu; isteğe bağlı, özel ve kıyassız bir büyüme katmanı. Twin sakin bir an öngördüğünde küçük, baskısız bir gelişim fırsatı önerir — ölçüm değil, gözetim değil.</a:t>
            </a:r>
          </a:p>
        </p:txBody>
      </p:sp>
      <p:pic>
        <p:nvPicPr>
          <p:cNvPr id="6" name="Picture 5" descr="growthcard_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880360"/>
            <a:ext cx="2840476" cy="3337560"/>
          </a:xfrm>
          <a:prstGeom prst="rect">
            <a:avLst/>
          </a:prstGeom>
        </p:spPr>
      </p:pic>
      <p:pic>
        <p:nvPicPr>
          <p:cNvPr id="7" name="Picture 6" descr="edgechips_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880360"/>
            <a:ext cx="4023359" cy="1508760"/>
          </a:xfrm>
          <a:prstGeom prst="rect">
            <a:avLst/>
          </a:prstGeom>
        </p:spPr>
      </p:pic>
      <p:pic>
        <p:nvPicPr>
          <p:cNvPr id="8" name="Picture 7" descr="mentorpairs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4526280"/>
            <a:ext cx="3891686" cy="1737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B8935A"/>
                </a:solidFill>
                <a:latin typeface="Instrument Serif"/>
                <a:cs typeface="Instrument Serif"/>
              </a:rPr>
              <a:t>ZaraTraining</a:t>
            </a:r>
            <a:r>
              <a:rPr sz="850" b="0" i="0" spc="160">
                <a:solidFill>
                  <a:srgbClr val="8A857F"/>
                </a:solidFill>
                <a:latin typeface="JetBrains Mono"/>
                <a:cs typeface="JetBrains Mono"/>
              </a:rPr>
              <a:t>   ·   ZARA Bornova 3643   ·   MAĞAZA ZEKÂSI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44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8A857F"/>
                </a:solidFill>
                <a:latin typeface="JetBrains Mono"/>
                <a:cs typeface="JetBrains Mono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5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260">
                <a:solidFill>
                  <a:srgbClr val="B8935A"/>
                </a:solidFill>
                <a:latin typeface="JetBrains Mono"/>
                <a:cs typeface="JetBrains Mono"/>
              </a:rPr>
              <a:t>KAPALI DÖNGÜ · YEDİ DÜĞÜM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789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1">
                <a:solidFill>
                  <a:srgbClr val="B8935A"/>
                </a:solidFill>
                <a:latin typeface="Bodoni Moda"/>
                <a:cs typeface="Bodoni Moda"/>
              </a:rPr>
              <a:t>Planla, uygula, ölç — </a:t>
            </a:r>
            <a:r>
              <a:rPr sz="3400" b="0" i="0">
                <a:solidFill>
                  <a:srgbClr val="1A1614"/>
                </a:solidFill>
                <a:latin typeface="Bodoni Moda"/>
                <a:cs typeface="Bodoni Moda"/>
              </a:rPr>
              <a:t>ve geliş.</a:t>
            </a:r>
          </a:p>
        </p:txBody>
      </p:sp>
      <p:pic>
        <p:nvPicPr>
          <p:cNvPr id="5" name="Picture 4" descr="loop_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4653" y="1783080"/>
            <a:ext cx="6677933" cy="4617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2743200"/>
            <a:ext cx="18288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322E"/>
                </a:solidFill>
                <a:latin typeface="Inter"/>
                <a:cs typeface="Inter"/>
              </a:rPr>
              <a:t>Döngünün merkezinde insan var: her plan bir öneri, dayatma değil. Yeni GROW düğümü her sonucu bir gelişim fırsatına çevirir.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B8935A"/>
                </a:solidFill>
                <a:latin typeface="Instrument Serif"/>
                <a:cs typeface="Instrument Serif"/>
              </a:rPr>
              <a:t>ZaraTraining</a:t>
            </a:r>
            <a:r>
              <a:rPr sz="850" b="0" i="0" spc="160">
                <a:solidFill>
                  <a:srgbClr val="8A857F"/>
                </a:solidFill>
                <a:latin typeface="JetBrains Mono"/>
                <a:cs typeface="JetBrains Mono"/>
              </a:rPr>
              <a:t>   ·   ZARA Bornova 3643   ·   MAĞAZA ZEKÂSI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400800"/>
            <a:ext cx="1444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8A857F"/>
                </a:solidFill>
                <a:latin typeface="JetBrains Mono"/>
                <a:cs typeface="JetBrains Mono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5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260">
                <a:solidFill>
                  <a:srgbClr val="B8935A"/>
                </a:solidFill>
                <a:latin typeface="JetBrains Mono"/>
                <a:cs typeface="JetBrains Mono"/>
              </a:rPr>
              <a:t>ZATEN ÇALIŞIYOR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9494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1">
                <a:solidFill>
                  <a:srgbClr val="B8935A"/>
                </a:solidFill>
                <a:latin typeface="Bodoni Moda"/>
                <a:cs typeface="Bodoni Moda"/>
              </a:rPr>
              <a:t>Sıfırdan değil — </a:t>
            </a:r>
            <a:r>
              <a:rPr sz="3400" b="0" i="0">
                <a:solidFill>
                  <a:srgbClr val="1A1614"/>
                </a:solidFill>
                <a:latin typeface="Bodoni Moda"/>
                <a:cs typeface="Bodoni Moda"/>
              </a:rPr>
              <a:t>mevcudun üstünde.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37744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spc="100">
                <a:solidFill>
                  <a:srgbClr val="D4B582"/>
                </a:solidFill>
                <a:latin typeface="JetBrains Mono"/>
                <a:cs typeface="JetBrains Mono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359152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614"/>
                </a:solidFill>
                <a:latin typeface="Bodoni Moda"/>
                <a:cs typeface="Bodoni Moda"/>
              </a:rPr>
              <a:t>Mevcut CP-SAT çözücü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98064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A322E"/>
                </a:solidFill>
                <a:latin typeface="Inter"/>
                <a:cs typeface="Inter"/>
              </a:rPr>
              <a:t>Kısıtlar (yasal, kapsama, beceri) sert kalır; biz yalnız hedefi öğreniriz.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70332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spc="100">
                <a:solidFill>
                  <a:srgbClr val="D4B582"/>
                </a:solidFill>
                <a:latin typeface="JetBrains Mono"/>
                <a:cs typeface="JetBrains Mono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685032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614"/>
                </a:solidFill>
                <a:latin typeface="Bodoni Moda"/>
                <a:cs typeface="Bodoni Moda"/>
              </a:rPr>
              <a:t>Buenas Dias = ödül hattı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123944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A322E"/>
                </a:solidFill>
                <a:latin typeface="Inter"/>
                <a:cs typeface="Inter"/>
              </a:rPr>
              <a:t>Günlük KPI'lar doğrudan öğrenme sinyaline dönüşür — yeni veri toplamaya gerek yok.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02920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spc="100">
                <a:solidFill>
                  <a:srgbClr val="D4B582"/>
                </a:solidFill>
                <a:latin typeface="JetBrains Mono"/>
                <a:cs typeface="JetBrains Mono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5010912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614"/>
                </a:solidFill>
                <a:latin typeface="Bodoni Moda"/>
                <a:cs typeface="Bodoni Moda"/>
              </a:rPr>
              <a:t>Per-ticket geri besleme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5449824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A322E"/>
                </a:solidFill>
                <a:latin typeface="Inter"/>
                <a:cs typeface="Inter"/>
              </a:rPr>
              <a:t>Her vardiya sonucu döngüye akar; sistem haftalar içinde mağazaya özelleşir.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2286000"/>
            <a:ext cx="5074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6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zt-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552" y="2521293"/>
            <a:ext cx="4837176" cy="318701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B8935A"/>
                </a:solidFill>
                <a:latin typeface="Instrument Serif"/>
                <a:cs typeface="Instrument Serif"/>
              </a:rPr>
              <a:t>ZaraTraining</a:t>
            </a:r>
            <a:r>
              <a:rPr sz="850" b="0" i="0" spc="160">
                <a:solidFill>
                  <a:srgbClr val="8A857F"/>
                </a:solidFill>
                <a:latin typeface="JetBrains Mono"/>
                <a:cs typeface="JetBrains Mono"/>
              </a:rPr>
              <a:t>   ·   ZARA Bornova 3643   ·   MAĞAZA ZEKÂSI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80015" y="6400800"/>
            <a:ext cx="1444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8A857F"/>
                </a:solidFill>
                <a:latin typeface="JetBrains Mono"/>
                <a:cs typeface="JetBrains Mono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5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260">
                <a:solidFill>
                  <a:srgbClr val="B8935A"/>
                </a:solidFill>
                <a:latin typeface="JetBrains Mono"/>
                <a:cs typeface="JetBrains Mono"/>
              </a:rPr>
              <a:t>ETKİ &amp; ÖLÇEK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789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1">
                <a:solidFill>
                  <a:srgbClr val="B8935A"/>
                </a:solidFill>
                <a:latin typeface="Bodoni Moda"/>
                <a:cs typeface="Bodoni Moda"/>
              </a:rPr>
              <a:t>Küçük kazanımlar, </a:t>
            </a:r>
            <a:r>
              <a:rPr sz="3600" b="0" i="0">
                <a:solidFill>
                  <a:srgbClr val="1A1614"/>
                </a:solidFill>
                <a:latin typeface="Bodoni Moda"/>
                <a:cs typeface="Bodoni Moda"/>
              </a:rPr>
              <a:t>570 mağazada büyür.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606040"/>
            <a:ext cx="267004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6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2606040"/>
            <a:ext cx="2670048" cy="45720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971800"/>
            <a:ext cx="212140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B8935A"/>
                </a:solidFill>
                <a:latin typeface="Bodoni Moda"/>
                <a:cs typeface="Bodoni Moda"/>
              </a:rPr>
              <a:t>−42</a:t>
            </a:r>
            <a:r>
              <a:rPr sz="1200" b="0" i="0" spc="50">
                <a:solidFill>
                  <a:srgbClr val="8A857F"/>
                </a:solidFill>
                <a:latin typeface="JetBrains Mono"/>
                <a:cs typeface="JetBrains Mono"/>
              </a:rPr>
              <a:t> dk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3840480"/>
            <a:ext cx="21214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D2420"/>
                </a:solidFill>
                <a:latin typeface="Inter"/>
                <a:cs typeface="Inter"/>
              </a:rPr>
              <a:t>Günlük planlama tasarrufu / mağaza</a:t>
            </a:r>
          </a:p>
        </p:txBody>
      </p:sp>
      <p:sp>
        <p:nvSpPr>
          <p:cNvPr id="9" name="Rectangle 8"/>
          <p:cNvSpPr/>
          <p:nvPr/>
        </p:nvSpPr>
        <p:spPr>
          <a:xfrm>
            <a:off x="3401568" y="2606040"/>
            <a:ext cx="267004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6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01568" y="2606040"/>
            <a:ext cx="2670048" cy="45720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5888" y="2971800"/>
            <a:ext cx="212140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B8935A"/>
                </a:solidFill>
                <a:latin typeface="Bodoni Moda"/>
                <a:cs typeface="Bodoni Moda"/>
              </a:rPr>
              <a:t>+14</a:t>
            </a:r>
            <a:r>
              <a:rPr sz="1200" b="0" i="0" spc="50">
                <a:solidFill>
                  <a:srgbClr val="8A857F"/>
                </a:solidFill>
                <a:latin typeface="JetBrains Mono"/>
                <a:cs typeface="JetBrains Mono"/>
              </a:rPr>
              <a:t> 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8" y="3840480"/>
            <a:ext cx="21214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D2420"/>
                </a:solidFill>
                <a:latin typeface="Inter"/>
                <a:cs typeface="Inter"/>
              </a:rPr>
              <a:t>Buenas Dias hedef artışı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2606040"/>
            <a:ext cx="267004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6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6208" y="2606040"/>
            <a:ext cx="2670048" cy="45720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2971800"/>
            <a:ext cx="212140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B8935A"/>
                </a:solidFill>
                <a:latin typeface="Bodoni Moda"/>
                <a:cs typeface="Bodoni Moda"/>
              </a:rPr>
              <a:t>97</a:t>
            </a:r>
            <a:r>
              <a:rPr sz="1200" b="0" i="0" spc="50">
                <a:solidFill>
                  <a:srgbClr val="8A857F"/>
                </a:solidFill>
                <a:latin typeface="JetBrains Mono"/>
                <a:cs typeface="JetBrains Mono"/>
              </a:rPr>
              <a:t>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3840480"/>
            <a:ext cx="21214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D2420"/>
                </a:solidFill>
                <a:latin typeface="Inter"/>
                <a:cs typeface="Inter"/>
              </a:rPr>
              <a:t>Zirve saat kabin kapsama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70848" y="2606040"/>
            <a:ext cx="267004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6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70848" y="2606040"/>
            <a:ext cx="2670048" cy="45720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45168" y="2971800"/>
            <a:ext cx="212140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B8935A"/>
                </a:solidFill>
                <a:latin typeface="Bodoni Moda"/>
                <a:cs typeface="Bodoni Moda"/>
              </a:rPr>
              <a:t>3</a:t>
            </a:r>
            <a:r>
              <a:rPr sz="1200" b="0" i="0" spc="50">
                <a:solidFill>
                  <a:srgbClr val="8A857F"/>
                </a:solidFill>
                <a:latin typeface="JetBrains Mono"/>
                <a:cs typeface="JetBrains Mono"/>
              </a:rPr>
              <a:t> hf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45168" y="3840480"/>
            <a:ext cx="21214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D2420"/>
                </a:solidFill>
                <a:latin typeface="Inter"/>
                <a:cs typeface="Inter"/>
              </a:rPr>
              <a:t>Devir erken-uyarı penceresi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9377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A322E"/>
                </a:solidFill>
                <a:latin typeface="Inter"/>
                <a:cs typeface="Inter"/>
              </a:rPr>
              <a:t>Tek mağazada kanıtlanan döngü,  </a:t>
            </a:r>
            <a:r>
              <a:rPr sz="2200" b="0" i="1">
                <a:solidFill>
                  <a:srgbClr val="B8935A"/>
                </a:solidFill>
                <a:latin typeface="Bodoni Moda"/>
                <a:cs typeface="Bodoni Moda"/>
              </a:rPr>
              <a:t>1 → 570+</a:t>
            </a:r>
            <a:r>
              <a:rPr sz="1400" b="0" i="0">
                <a:solidFill>
                  <a:srgbClr val="3A322E"/>
                </a:solidFill>
                <a:latin typeface="Inter"/>
                <a:cs typeface="Inter"/>
              </a:rPr>
              <a:t>  mağazaya aynı altyapıyla ölçeklenir.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" y="59436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 spc="120">
                <a:solidFill>
                  <a:srgbClr val="A7A199"/>
                </a:solidFill>
                <a:latin typeface="JetBrains Mono"/>
                <a:cs typeface="JetBrains Mono"/>
              </a:rPr>
              <a:t>GÖSTERGELER · TEMSİLİDİR · PİLOT HEDEFLERİ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B8935A"/>
                </a:solidFill>
                <a:latin typeface="Instrument Serif"/>
                <a:cs typeface="Instrument Serif"/>
              </a:rPr>
              <a:t>ZaraTraining</a:t>
            </a:r>
            <a:r>
              <a:rPr sz="850" b="0" i="0" spc="160">
                <a:solidFill>
                  <a:srgbClr val="8A857F"/>
                </a:solidFill>
                <a:latin typeface="JetBrains Mono"/>
                <a:cs typeface="JetBrains Mono"/>
              </a:rPr>
              <a:t>   ·   ZARA Bornova 3643   ·   MAĞAZA ZEKÂSI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80015" y="6400800"/>
            <a:ext cx="1444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8A857F"/>
                </a:solidFill>
                <a:latin typeface="JetBrains Mono"/>
                <a:cs typeface="JetBrains Mono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1A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260">
                <a:solidFill>
                  <a:srgbClr val="D4B582"/>
                </a:solidFill>
                <a:latin typeface="JetBrains Mono"/>
                <a:cs typeface="JetBrains Mono"/>
              </a:rPr>
              <a:t>YOL HARİTASI &amp; DÜRÜSTLÜK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1">
                <a:solidFill>
                  <a:srgbClr val="D4B582"/>
                </a:solidFill>
                <a:latin typeface="Bodoni Moda"/>
                <a:cs typeface="Bodoni Moda"/>
              </a:rPr>
              <a:t>Ne olduğumuz kadar </a:t>
            </a:r>
            <a:r>
              <a:rPr sz="3600" b="0" i="0">
                <a:solidFill>
                  <a:srgbClr val="F5F1EA"/>
                </a:solidFill>
                <a:latin typeface="Bodoni Moda"/>
                <a:cs typeface="Bodoni Moda"/>
              </a:rPr>
              <a:t>ne olmadığımız da net.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468879"/>
            <a:ext cx="41148" cy="713232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423160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5F1EA"/>
                </a:solidFill>
                <a:latin typeface="Bodoni Moda"/>
                <a:cs typeface="Bodoni Moda"/>
              </a:rPr>
              <a:t>Derin RL değil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807208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8B4AE"/>
                </a:solidFill>
                <a:latin typeface="Inter"/>
                <a:cs typeface="Inter"/>
              </a:rPr>
              <a:t>Karar-odaklı öğrenme + offline bandit. Davranışı denetlenebilir ve güvenli tutar.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493008"/>
            <a:ext cx="41148" cy="713232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3447288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5F1EA"/>
                </a:solidFill>
                <a:latin typeface="Bodoni Moda"/>
                <a:cs typeface="Bodoni Moda"/>
              </a:rPr>
              <a:t>Sert kısıtlar sert kalır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83133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8B4AE"/>
                </a:solidFill>
                <a:latin typeface="Inter"/>
                <a:cs typeface="Inter"/>
              </a:rPr>
              <a:t>Yasal sınırlar ve kapsama asla öğrenilen hedefe feda edilmez.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517136"/>
            <a:ext cx="41148" cy="713232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471416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5F1EA"/>
                </a:solidFill>
                <a:latin typeface="Bodoni Moda"/>
                <a:cs typeface="Bodoni Moda"/>
              </a:rPr>
              <a:t>Gözetim değil, destek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85546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8B4AE"/>
                </a:solidFill>
                <a:latin typeface="Inter"/>
                <a:cs typeface="Inter"/>
              </a:rPr>
              <a:t>Usta Yolu opt-in ve özeldir; kıyas yok, sıralama yok, ceza yok.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5532120"/>
            <a:ext cx="11064240" cy="12700"/>
          </a:xfrm>
          <a:prstGeom prst="rect">
            <a:avLst/>
          </a:prstGeom>
          <a:solidFill>
            <a:srgbClr val="3A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57150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1">
                <a:solidFill>
                  <a:srgbClr val="D4B582"/>
                </a:solidFill>
                <a:latin typeface="Bodoni Moda"/>
                <a:cs typeface="Bodoni Moda"/>
              </a:rPr>
              <a:t>Çalışan bir kod değil — </a:t>
            </a:r>
            <a:r>
              <a:rPr sz="2300" b="0" i="0">
                <a:solidFill>
                  <a:srgbClr val="F5F1EA"/>
                </a:solidFill>
                <a:latin typeface="Bodoni Moda"/>
                <a:cs typeface="Bodoni Moda"/>
              </a:rPr>
              <a:t>öğrenen bir operasyon.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B8935A"/>
                </a:solidFill>
                <a:latin typeface="Instrument Serif"/>
                <a:cs typeface="Instrument Serif"/>
              </a:rPr>
              <a:t>ZaraTraining</a:t>
            </a:r>
            <a:r>
              <a:rPr sz="850" b="0" i="0" spc="160">
                <a:solidFill>
                  <a:srgbClr val="B8B4AE"/>
                </a:solidFill>
                <a:latin typeface="JetBrains Mono"/>
                <a:cs typeface="JetBrains Mono"/>
              </a:rPr>
              <a:t>   ·   ZARA Bornova 3643   ·   MAĞAZA ZEKÂSI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80015" y="6400800"/>
            <a:ext cx="1444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B8B4AE"/>
                </a:solidFill>
                <a:latin typeface="JetBrains Mono"/>
                <a:cs typeface="JetBrains Mono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